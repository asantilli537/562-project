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  <p:embeddedFont>
      <p:font typeface="JetBrains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22" Type="http://schemas.openxmlformats.org/officeDocument/2006/relationships/font" Target="fonts/JetBrainsMono-bold.fntdata"/><Relationship Id="rId10" Type="http://schemas.openxmlformats.org/officeDocument/2006/relationships/slide" Target="slides/slide5.xml"/><Relationship Id="rId21" Type="http://schemas.openxmlformats.org/officeDocument/2006/relationships/font" Target="fonts/JetBrainsMono-regular.fntdata"/><Relationship Id="rId13" Type="http://schemas.openxmlformats.org/officeDocument/2006/relationships/slide" Target="slides/slide8.xml"/><Relationship Id="rId24" Type="http://schemas.openxmlformats.org/officeDocument/2006/relationships/font" Target="fonts/JetBrainsMono-boldItalic.fntdata"/><Relationship Id="rId12" Type="http://schemas.openxmlformats.org/officeDocument/2006/relationships/slide" Target="slides/slide7.xml"/><Relationship Id="rId23" Type="http://schemas.openxmlformats.org/officeDocument/2006/relationships/font" Target="fonts/JetBrains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18847442a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18847442a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229677f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229677f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18847442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18847442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21c6f9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21c6f9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21c6f94d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21c6f94d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22126697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b22126697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22126697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b22126697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22126697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22126697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311825"/>
            <a:ext cx="4578900" cy="217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BestTeam' ; DROP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Students; </a:t>
            </a:r>
            <a:r>
              <a:rPr lang="en"/>
              <a:t>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562 ESQL Demo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Colby Foster, Anthony Santilli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ESQL and SQL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program which returns a script to process and return a query written in the PHI operator form (S, n, V, F, r, G)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Aggregations and </a:t>
            </a:r>
            <a:r>
              <a:rPr lang="en"/>
              <a:t>grouping → simple to explain, hard to execute in normal SQL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Multi-feature queries → express without multiple queries or subqueries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Aggregates → defined with SUCHTHAT clause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program allows these types of queries to be expressed more efficiently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Easier to write and understand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Works via scans rather than joins → less computation overall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and Parts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Query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Generator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Structure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1555100" y="2875825"/>
            <a:ext cx="1971600" cy="785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generator.py</a:t>
            </a:r>
            <a:endParaRPr sz="1300">
              <a:solidFill>
                <a:schemeClr val="dk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4686850" y="3076000"/>
            <a:ext cx="1971600" cy="384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_generated</a:t>
            </a:r>
            <a:r>
              <a:rPr lang="en" sz="1300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.py</a:t>
            </a:r>
            <a:endParaRPr sz="1300">
              <a:solidFill>
                <a:schemeClr val="dk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298" name="Google Shape;298;p16"/>
          <p:cNvCxnSpPr/>
          <p:nvPr/>
        </p:nvCxnSpPr>
        <p:spPr>
          <a:xfrm>
            <a:off x="6658450" y="3268450"/>
            <a:ext cx="9969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16"/>
          <p:cNvSpPr txBox="1"/>
          <p:nvPr/>
        </p:nvSpPr>
        <p:spPr>
          <a:xfrm>
            <a:off x="1555100" y="1597875"/>
            <a:ext cx="1971600" cy="384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readinput</a:t>
            </a:r>
            <a:r>
              <a:rPr lang="en" sz="1300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.py</a:t>
            </a:r>
            <a:endParaRPr sz="1300">
              <a:solidFill>
                <a:schemeClr val="dk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300" name="Google Shape;300;p16"/>
          <p:cNvCxnSpPr/>
          <p:nvPr/>
        </p:nvCxnSpPr>
        <p:spPr>
          <a:xfrm rot="10800000">
            <a:off x="1726175" y="2060575"/>
            <a:ext cx="0" cy="78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16"/>
          <p:cNvCxnSpPr/>
          <p:nvPr/>
        </p:nvCxnSpPr>
        <p:spPr>
          <a:xfrm>
            <a:off x="2356125" y="1993900"/>
            <a:ext cx="0" cy="81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16"/>
          <p:cNvSpPr txBox="1"/>
          <p:nvPr>
            <p:ph idx="1" type="body"/>
          </p:nvPr>
        </p:nvSpPr>
        <p:spPr>
          <a:xfrm>
            <a:off x="7699800" y="3075850"/>
            <a:ext cx="1141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result table</a:t>
            </a:r>
            <a:endParaRPr/>
          </a:p>
        </p:txBody>
      </p:sp>
      <p:sp>
        <p:nvSpPr>
          <p:cNvPr id="303" name="Google Shape;303;p16"/>
          <p:cNvSpPr txBox="1"/>
          <p:nvPr>
            <p:ph idx="1" type="body"/>
          </p:nvPr>
        </p:nvSpPr>
        <p:spPr>
          <a:xfrm>
            <a:off x="2448675" y="2301225"/>
            <a:ext cx="1141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 values of MF_struct</a:t>
            </a:r>
            <a:endParaRPr/>
          </a:p>
        </p:txBody>
      </p:sp>
      <p:cxnSp>
        <p:nvCxnSpPr>
          <p:cNvPr id="304" name="Google Shape;304;p16"/>
          <p:cNvCxnSpPr>
            <a:endCxn id="297" idx="1"/>
          </p:cNvCxnSpPr>
          <p:nvPr/>
        </p:nvCxnSpPr>
        <p:spPr>
          <a:xfrm>
            <a:off x="3556450" y="3268150"/>
            <a:ext cx="11304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16"/>
          <p:cNvSpPr txBox="1"/>
          <p:nvPr>
            <p:ph idx="1" type="body"/>
          </p:nvPr>
        </p:nvSpPr>
        <p:spPr>
          <a:xfrm>
            <a:off x="413300" y="2377700"/>
            <a:ext cx="1141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Read values of input / file</a:t>
            </a:r>
            <a:endParaRPr/>
          </a:p>
        </p:txBody>
      </p:sp>
      <p:sp>
        <p:nvSpPr>
          <p:cNvPr id="306" name="Google Shape;306;p16"/>
          <p:cNvSpPr txBox="1"/>
          <p:nvPr>
            <p:ph idx="1" type="body"/>
          </p:nvPr>
        </p:nvSpPr>
        <p:spPr>
          <a:xfrm>
            <a:off x="1555100" y="3617225"/>
            <a:ext cx="3275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operations handled in </a:t>
            </a:r>
            <a:r>
              <a:rPr lang="en"/>
              <a:t>generator</a:t>
            </a:r>
            <a:r>
              <a:rPr lang="en"/>
              <a:t>.py: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Scans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Parsing SUCHTHAT and HAVING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Structure</a:t>
            </a:r>
            <a:endParaRPr/>
          </a:p>
        </p:txBody>
      </p:sp>
      <p:sp>
        <p:nvSpPr>
          <p:cNvPr id="312" name="Google Shape;312;p17"/>
          <p:cNvSpPr txBox="1"/>
          <p:nvPr>
            <p:ph idx="1" type="body"/>
          </p:nvPr>
        </p:nvSpPr>
        <p:spPr>
          <a:xfrm>
            <a:off x="140775" y="2405050"/>
            <a:ext cx="4097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/>
              <a:t>Example query:</a:t>
            </a:r>
            <a:endParaRPr sz="10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00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SELECT ATTRIBUTE(S):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cust, 1_sum_quant, 2_sum_quant, 3_sum_quant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NUMBER OF GROUPING VARIABLES(n):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GROUPING ATTRIBUTES(V):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cust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F-VECT([F]):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1_sum_quant, 1_avg_quant, 2_sum_quant, 3_sum_quant, 3_avg_quant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SELECT CONDITION-VECT([σ]):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1.state = 'NY' 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2.state = 'NJ'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3.state = 'CT'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HAVING_CONDITION(G):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005">
                <a:latin typeface="JetBrains Mono"/>
                <a:ea typeface="JetBrains Mono"/>
                <a:cs typeface="JetBrains Mono"/>
                <a:sym typeface="JetBrains Mono"/>
              </a:rPr>
              <a:t>1_sum_quant &gt;  2_sum_quant * 2 or 1_avg_quant &gt; 3_avg_quant</a:t>
            </a:r>
            <a:endParaRPr sz="1005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3" name="Google Shape;313;p17"/>
          <p:cNvSpPr txBox="1"/>
          <p:nvPr>
            <p:ph idx="1" type="body"/>
          </p:nvPr>
        </p:nvSpPr>
        <p:spPr>
          <a:xfrm>
            <a:off x="5218250" y="30150"/>
            <a:ext cx="3631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from file by the generator program in .txt format, input </a:t>
            </a:r>
            <a:r>
              <a:rPr lang="en"/>
              <a:t>passed</a:t>
            </a:r>
            <a:r>
              <a:rPr lang="en"/>
              <a:t> to readinput.py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 and F are comma-separated, as is suchthat when </a:t>
            </a:r>
            <a:r>
              <a:rPr lang="en"/>
              <a:t>processed</a:t>
            </a:r>
            <a:r>
              <a:rPr lang="en"/>
              <a:t> via user input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F-vector → list of lists for each grouping var, and each aggregate in grouping var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From file read, suchthat </a:t>
            </a:r>
            <a:r>
              <a:rPr lang="en"/>
              <a:t>separated</a:t>
            </a:r>
            <a:r>
              <a:rPr lang="en"/>
              <a:t> by lines → list of conditionals for each grouping variable</a:t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4163700" y="2615675"/>
            <a:ext cx="49803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Output from readinput.py: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S: ['cust', '1_sum_quant', '2_sum_quant', '3_sum_quant']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n: 3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V: ['cust']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F: [[('1', 'sum', 'quant'), ('1', 'avg', 'quant')], [('2', 'sum', 'quant')], [('3', 'sum', 'quant'), ('3', 'avg', 'quant')]]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r: ["1.state='NY', 1.quant &gt; 10", "2.state='NJ'", "3.state='CT'"]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G: 1_sum_quant &gt; 2 * 2_sum_quant or 1_avg_quant &gt; 3_avg_quant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Generator File</a:t>
            </a:r>
            <a:endParaRPr/>
          </a:p>
        </p:txBody>
      </p:sp>
      <p:sp>
        <p:nvSpPr>
          <p:cNvPr id="320" name="Google Shape;320;p18"/>
          <p:cNvSpPr txBox="1"/>
          <p:nvPr>
            <p:ph idx="1" type="body"/>
          </p:nvPr>
        </p:nvSpPr>
        <p:spPr>
          <a:xfrm>
            <a:off x="614550" y="1841825"/>
            <a:ext cx="33432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1.state = 'NY' and 1.quant &lt; 10 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2.state = 'NJ' and 2.quant &lt; 10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3.state = 'CT' and 3.quant &lt; 10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1" name="Google Shape;321;p18"/>
          <p:cNvSpPr txBox="1"/>
          <p:nvPr>
            <p:ph idx="1" type="body"/>
          </p:nvPr>
        </p:nvSpPr>
        <p:spPr>
          <a:xfrm>
            <a:off x="4520925" y="1209950"/>
            <a:ext cx="4461900" cy="20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if groupVar == 0 and (row[ATTRIBUTE_INDEX['state']] == 'NY' and row[ATTRIBUTE_INDEX['quant']] &lt; 10)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or groupVar == 1 and (row[ATTRIBUTE_INDEX['state']] == 'NJ' and row[ATTRIBUTE_INDEX['quant']] &lt; 10)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or groupVar == 2 and (row[ATTRIBUTE_INDEX['state']] == 'CT' and row[ATTRIBUTE_INDEX['quant']] &lt; 10):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2" name="Google Shape;322;p18"/>
          <p:cNvSpPr txBox="1"/>
          <p:nvPr>
            <p:ph idx="1" type="body"/>
          </p:nvPr>
        </p:nvSpPr>
        <p:spPr>
          <a:xfrm>
            <a:off x="766950" y="1352625"/>
            <a:ext cx="33432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Parsing SUCHTHAT clause: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sp>
        <p:nvSpPr>
          <p:cNvPr id="328" name="Google Shape;328;p19"/>
          <p:cNvSpPr txBox="1"/>
          <p:nvPr>
            <p:ph idx="1" type="body"/>
          </p:nvPr>
        </p:nvSpPr>
        <p:spPr>
          <a:xfrm>
            <a:off x="1303800" y="1597875"/>
            <a:ext cx="70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Database: Postgres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Language: Python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Libraries: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psycopg2</a:t>
            </a:r>
            <a:endParaRPr/>
          </a:p>
          <a:p>
            <a:pPr indent="-2984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Or psycopg2-binary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Tabulate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Python-dotenv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334" name="Google Shape;334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Must use strict format for input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Generally no error checking and expects you to input things correctly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Some </a:t>
            </a:r>
            <a:r>
              <a:rPr lang="en"/>
              <a:t>queries are slightly more complicated than they have to be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have nothing in the aggregate, then besides avg it just shows “0”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avg throws error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support for minimal scanning</a:t>
            </a:r>
            <a:endParaRPr/>
          </a:p>
        </p:txBody>
      </p:sp>
      <p:pic>
        <p:nvPicPr>
          <p:cNvPr id="335" name="Google Shape;3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599" y="0"/>
            <a:ext cx="4311400" cy="20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41" name="Google Shape;341;p21"/>
          <p:cNvSpPr txBox="1"/>
          <p:nvPr>
            <p:ph idx="1" type="body"/>
          </p:nvPr>
        </p:nvSpPr>
        <p:spPr>
          <a:xfrm>
            <a:off x="1303800" y="1311225"/>
            <a:ext cx="7030500" cy="32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Our implementation of MF and EMF query processing for tables makes queries that use group-by and aggregates much simpler to write and more efficient to process, saving time and cost for anyone analyzing a datab</a:t>
            </a:r>
            <a:r>
              <a:rPr lang="en" sz="1500"/>
              <a:t>ase</a:t>
            </a:r>
            <a:r>
              <a:rPr lang="en" sz="1500"/>
              <a:t>.</a:t>
            </a:r>
            <a:endParaRPr sz="1500"/>
          </a:p>
          <a:p>
            <a:pPr indent="0" lvl="0" marL="0" rtl="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If we were to improve our project, we could combine some loops to improve the performance, add robust error checking, and allow queries to be implemented as easily as the MF/EMF structure theoretically allows for.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